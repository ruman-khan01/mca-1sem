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an saif" userId="2970df1904c16fd2" providerId="LiveId" clId="{80725AB6-FBC5-4BD2-B4DA-FDDD4CEB41B8}"/>
    <pc:docChg chg="custSel modSld">
      <pc:chgData name="aman saif" userId="2970df1904c16fd2" providerId="LiveId" clId="{80725AB6-FBC5-4BD2-B4DA-FDDD4CEB41B8}" dt="2026-08-19T19:35:54.429" v="0" actId="478"/>
      <pc:docMkLst>
        <pc:docMk/>
      </pc:docMkLst>
      <pc:sldChg chg="delSp mod">
        <pc:chgData name="aman saif" userId="2970df1904c16fd2" providerId="LiveId" clId="{80725AB6-FBC5-4BD2-B4DA-FDDD4CEB41B8}" dt="2026-08-19T19:35:54.429" v="0" actId="478"/>
        <pc:sldMkLst>
          <pc:docMk/>
          <pc:sldMk cId="0" sldId="260"/>
        </pc:sldMkLst>
        <pc:spChg chg="del">
          <ac:chgData name="aman saif" userId="2970df1904c16fd2" providerId="LiveId" clId="{80725AB6-FBC5-4BD2-B4DA-FDDD4CEB41B8}" dt="2026-08-19T19:35:54.429" v="0" actId="478"/>
          <ac:spMkLst>
            <pc:docMk/>
            <pc:sldMk cId="0" sldId="260"/>
            <ac:spMk id="1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4332"/>
                </a:solidFill>
                <a:latin typeface="Georgia"/>
              </a:defRPr>
            </a:pPr>
            <a:r>
              <a:rPr lang="en-US" sz="1400" b="0" i="0" u="none" strike="noStrike">
                <a:solidFill>
                  <a:srgbClr val="1B4332"/>
                </a:solidFill>
                <a:latin typeface="Georgia"/>
              </a:rPr>
              <a:t>Annual Capacity Additions by Technology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Solar (GW)</c:v>
                </c:pt>
              </c:strCache>
            </c:strRef>
          </c:tx>
          <c:spPr>
            <a:solidFill>
              <a:srgbClr val="F5A62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131</c:v>
                </c:pt>
                <c:pt idx="1">
                  <c:v>175</c:v>
                </c:pt>
                <c:pt idx="2">
                  <c:v>239</c:v>
                </c:pt>
                <c:pt idx="3">
                  <c:v>347</c:v>
                </c:pt>
                <c:pt idx="4">
                  <c:v>452</c:v>
                </c:pt>
                <c:pt idx="5">
                  <c:v>560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49-4F14-8DF3-0CB8E53E37E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Wind (GW)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93</c:v>
                </c:pt>
                <c:pt idx="1">
                  <c:v>94</c:v>
                </c:pt>
                <c:pt idx="2">
                  <c:v>78</c:v>
                </c:pt>
                <c:pt idx="3">
                  <c:v>106</c:v>
                </c:pt>
                <c:pt idx="4">
                  <c:v>130</c:v>
                </c:pt>
                <c:pt idx="5">
                  <c:v>148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349-4F14-8DF3-0CB8E53E37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Georgia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3E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N" b="0" i="0" u="none" strike="noStrike">
                    <a:solidFill>
                      <a:srgbClr val="000000"/>
                    </a:solidFill>
                    <a:latin typeface="Arial"/>
                  </a:rPr>
                  <a:t>Gigawatts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A3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3A3A3A"/>
              </a:solidFill>
              <a:latin typeface="Georgia"/>
              <a:cs typeface="Georgia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0030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G_MASTER">
    <p:bg>
      <p:bgPr>
        <a:solidFill>
          <a:srgbClr val="F8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19088"/>
            <a:ext cx="12192000" cy="438912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556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6455664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mp3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un.png"/>
          <p:cNvPicPr>
            <a:picLocks noChangeAspect="1"/>
          </p:cNvPicPr>
          <p:nvPr/>
        </p:nvPicPr>
        <p:blipFill>
          <a:blip r:embed="rId5">
            <a:alphaModFix amt="95000"/>
          </a:blip>
          <a:stretch>
            <a:fillRect/>
          </a:stretch>
        </p:blipFill>
        <p:spPr>
          <a:xfrm>
            <a:off x="9784080" y="502920"/>
            <a:ext cx="1737360" cy="17373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RENEWABLE ENERGY TRANSITION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8580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Powering a Sustainable Future, 2020–2030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p:transition spd="med">
    <p:fade/>
    <p:sndAc>
      <p:stSnd>
        <p:snd r:embed="rId3" name="chime.mp3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Renewables Matter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63093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2200"/>
              </a:spcAft>
              <a:buSzPct val="100000"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Falling costs: </a:t>
            </a:r>
            <a:r>
              <a:rPr lang="en-US" sz="16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and wind are now cheaper than fossil fuels in most markets.</a:t>
            </a:r>
            <a:endParaRPr lang="en-US" sz="1600" dirty="0"/>
          </a:p>
          <a:p>
            <a:pPr marL="0" indent="0">
              <a:spcAft>
                <a:spcPts val="2200"/>
              </a:spcAft>
              <a:buNone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 security: </a:t>
            </a:r>
            <a:r>
              <a:rPr lang="en-US" sz="16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Domestic renewable sources reduce dependence on imported fuel.</a:t>
            </a:r>
            <a:endParaRPr lang="en-US" sz="1600" dirty="0"/>
          </a:p>
          <a:p>
            <a:pPr marL="0" indent="0">
              <a:spcAft>
                <a:spcPts val="2200"/>
              </a:spcAft>
              <a:buNone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Climate impact: </a:t>
            </a:r>
            <a:r>
              <a:rPr lang="en-US" sz="16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Displacing coal and gas cuts power-sector emissions sharply.</a:t>
            </a:r>
            <a:endParaRPr lang="en-US" sz="1600" dirty="0"/>
          </a:p>
          <a:p>
            <a:pPr marL="0" indent="0">
              <a:spcAft>
                <a:spcPts val="2200"/>
              </a:spcAft>
              <a:buNone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Job creation: </a:t>
            </a:r>
            <a:r>
              <a:rPr lang="en-US" sz="16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sector already employs over 16 million people worldwide.</a:t>
            </a:r>
            <a:endParaRPr lang="en-US" sz="1600" dirty="0"/>
          </a:p>
        </p:txBody>
      </p:sp>
      <p:pic>
        <p:nvPicPr>
          <p:cNvPr id="4" name="Image 0" descr="turb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0" y="1371600"/>
            <a:ext cx="1554480" cy="1554480"/>
          </a:xfrm>
          <a:prstGeom prst="rect">
            <a:avLst/>
          </a:prstGeom>
        </p:spPr>
      </p:pic>
      <p:pic>
        <p:nvPicPr>
          <p:cNvPr id="5" name="Image 1" descr="sol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0" y="3063240"/>
            <a:ext cx="1554480" cy="15544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9326880" y="1691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9326880" y="3383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6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Global Renewable Capacity Growth</a:t>
            </a:r>
            <a:endParaRPr lang="en-US" sz="28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143000"/>
          <a:ext cx="731520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8183880" y="1143000"/>
            <a:ext cx="3520440" cy="502920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3E3"/>
            </a:solidFill>
            <a:prstDash val="solid"/>
          </a:ln>
          <a:effectLst>
            <a:outerShdw blurRad="76200" dist="25400" dir="5400000" algn="bl" rotWithShape="0">
              <a:srgbClr val="444444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458200" y="1371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458200" y="1828800"/>
            <a:ext cx="30175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A3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capacity additions have overtaken wind since 2021 and now grow at roughly 25% per year, driven by falling panel costs and rapid utility-scale deployment across China, the U.S., and India.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Snapshot, 2025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347472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Region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Renewable Share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Installed Capacity (GW)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YoY Growth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China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38%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1,450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6A4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+21%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European Union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44%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705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6A4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+14%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United States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27%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512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6A4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+18%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India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23%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220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6A4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+26%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Rest of World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19%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A3A3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690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D6A4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+12%</a:t>
                      </a:r>
                      <a:endParaRPr lang="en-US" sz="12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892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Figures reflect cumulative installed renewable capacity and year-over-year growth in new additions.</a:t>
            </a:r>
            <a:endParaRPr lang="en-US" sz="1100" dirty="0"/>
          </a:p>
        </p:txBody>
      </p:sp>
      <p:pic>
        <p:nvPicPr>
          <p:cNvPr id="3" name="Image 0" descr="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4937760"/>
            <a:ext cx="1188720" cy="1188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ransition spd="med">
    <p:dissolv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914400"/>
            <a:ext cx="1463040" cy="14630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377440" y="960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Join the Transition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242316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commitments for the next five years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520" y="265176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2651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54480" y="2651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Triple global renewable capacity to 11,000 GW by 2030.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" y="352044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55448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Double the annual rate of energy efficiency improvement.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31520" y="4389120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554480" y="4389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Mobilize $1.3 trillion a year in clean energy investment.</a:t>
            </a:r>
            <a:endParaRPr lang="en-US" sz="1600" dirty="0"/>
          </a:p>
        </p:txBody>
      </p:sp>
      <p:pic>
        <p:nvPicPr>
          <p:cNvPr id="15" name="Image 1" descr="battery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78440" y="4983480"/>
            <a:ext cx="1188720" cy="1188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5566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ransition spd="med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6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  <p:par>
                    <p:cTn id="6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7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8" dur="6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  <p:par>
                    <p:cTn id="9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0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1" dur="6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  <p:par>
                    <p:cTn id="12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3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4" dur="6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  <p:par>
                    <p:cTn id="1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17" dur="6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  <p:par>
                    <p:cTn id="18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19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0" dur="6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  <p:par>
                    <p:cTn id="21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2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3" dur="6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  <p:par>
                    <p:cTn id="2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6" dur="6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  <p:par>
                    <p:cTn id="27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28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29" dur="6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237</Words>
  <Application>Microsoft Office PowerPoint</Application>
  <PresentationFormat>Widescreen</PresentationFormat>
  <Paragraphs>58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GreenGrid Energy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Renewable Energy Transition</dc:title>
  <dc:subject>Renewable Energy Overview</dc:subject>
  <dc:creator>Claude</dc:creator>
  <cp:lastModifiedBy>aman saif</cp:lastModifiedBy>
  <cp:revision>3</cp:revision>
  <dcterms:created xsi:type="dcterms:W3CDTF">2026-08-19T18:10:23Z</dcterms:created>
  <dcterms:modified xsi:type="dcterms:W3CDTF">2026-08-19T19:35:58Z</dcterms:modified>
</cp:coreProperties>
</file>